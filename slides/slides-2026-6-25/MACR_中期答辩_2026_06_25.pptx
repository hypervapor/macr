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AFAFA"/>
                </a:solidFill>
                <a:latin typeface="Microsoft YaHei"/>
                <a:ea typeface="Microsoft YaHei"/>
                <a:cs typeface="Microsoft YaHei"/>
              </a:rPr>
              <a:t>基于多智能体协作的自动化程序修复研究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D4AF37"/>
                </a:solidFill>
                <a:latin typeface="Microsoft YaHei"/>
                <a:ea typeface="Microsoft YaHei"/>
                <a:cs typeface="Microsoft YaHei"/>
              </a:rPr>
              <a:t>硕士论文中期答辩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C8D2DC"/>
                </a:solidFill>
                <a:latin typeface="Microsoft YaHei"/>
                <a:ea typeface="Microsoft YaHei"/>
                <a:cs typeface="Microsoft YaHei"/>
              </a:rPr>
              <a:t>汇报人：XXX
导师：XXX 教授
2026年6月25日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80" y="6035040"/>
            <a:ext cx="182880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汇报提纲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280160" cy="36576"/>
          </a:xfrm>
          <a:prstGeom prst="rect">
            <a:avLst/>
          </a:prstGeom>
          <a:solidFill>
            <a:srgbClr val="B7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5029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88136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MACR · 硕士论文中期答辩 · 2026.06 ·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■ 1. 论文概况（背景、目标）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■ 2. 研究进展概览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■ 3. 已完成的核心工作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■ 4. 存在的问题与困惑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■ 5. 后续研究计划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■ 6. 总结与致谢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463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AFAF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AFAFA"/>
                </a:solidFill>
                <a:latin typeface="Microsoft YaHei"/>
                <a:ea typeface="Microsoft YaHei"/>
                <a:cs typeface="Microsoft YaHei"/>
              </a:rPr>
              <a:t>论文概况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72000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研究背景与目标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280160" cy="36576"/>
          </a:xfrm>
          <a:prstGeom prst="rect">
            <a:avLst/>
          </a:prstGeom>
          <a:solidFill>
            <a:srgbClr val="B7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5029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88136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MACR · 硕士论文中期答辩 · 2026.06 ·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研究背景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软件缺陷修复成本高，传统 APR 泛化能力有限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大语言模型展现代码理解与生成潜力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单一 LLM 代理存在上下文与推理局限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多智能体协作可分工完成定位、生成、验证、评审</a:t>
            </a:r>
          </a:p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研究目标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构建 MACR（Multi-Agent Collaborative Repair）框架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引入 Knowledge Graph 与 Level-2 Sub-Agent 增强机制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在 QuixBugs 数据集上验证有效性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463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AFAF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AFAFA"/>
                </a:solidFill>
                <a:latin typeface="Microsoft YaHei"/>
                <a:ea typeface="Microsoft YaHei"/>
                <a:cs typeface="Microsoft YaHei"/>
              </a:rPr>
              <a:t>研究进展概览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72000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进度对照与完成情况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280160" cy="36576"/>
          </a:xfrm>
          <a:prstGeom prst="rect">
            <a:avLst/>
          </a:prstGeom>
          <a:solidFill>
            <a:srgbClr val="B7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5029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88136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MACR · 硕士论文中期答辩 · 2026.06 ·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已完成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文献综述与相关工作梳理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MACR 总体架构设计与模块实现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Coordinator / KG / Sub-Agent / Trace 核心模块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QuixBugs 数据集消融实验与阶段报告</a:t>
            </a:r>
          </a:p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进行中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失败 case 的 trace 定位与 prompt 优化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Sub-Agent 触发策略的成本-收益调优</a:t>
            </a:r>
          </a:p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待完成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Defects4J 等更大规模数据集验证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论文撰写、导师审阅与修改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463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AFAF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AFAFA"/>
                </a:solidFill>
                <a:latin typeface="Microsoft YaHei"/>
                <a:ea typeface="Microsoft YaHei"/>
                <a:cs typeface="Microsoft YaHei"/>
              </a:rPr>
              <a:t>已完成的核心工作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72000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MACR 总体架构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280160" cy="36576"/>
          </a:xfrm>
          <a:prstGeom prst="rect">
            <a:avLst/>
          </a:prstGeom>
          <a:solidFill>
            <a:srgbClr val="B7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5029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88136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MACR · 硕士论文中期答辩 · 2026.06 ·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82880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ReAct
Coordinator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320040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Tool Registry
(direct_patch / run_tests / query_kg)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0040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Knowledge
Graph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320040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Level-2
Sub-Agent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84632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Trace
Logger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484632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QuixBugs
Dataset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484632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LLM Backend
DeepSeek-V4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92240.0" y="2514600"/>
            <a:ext cx="0.0" cy="685800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291840" y="3543300.0"/>
            <a:ext cx="2011680" cy="0.0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80960" y="3543300.0"/>
            <a:ext cx="1280160" cy="0.0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92240.0" y="3886200"/>
            <a:ext cx="0.0" cy="960120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103120.0" y="3886200"/>
            <a:ext cx="0.0" cy="960120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49840.0" y="3886200"/>
            <a:ext cx="0.0" cy="960120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MACR 工作流程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280160" cy="36576"/>
          </a:xfrm>
          <a:prstGeom prst="rect">
            <a:avLst/>
          </a:prstGeom>
          <a:solidFill>
            <a:srgbClr val="B7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5029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88136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MACR · 硕士论文中期答辩 · 2026.06 ·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18288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Bug
Sample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3154680.0"/>
            <a:ext cx="274320" cy="0.0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0" y="2743200"/>
            <a:ext cx="18288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KG
Builder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3154680.0"/>
            <a:ext cx="274320" cy="0.0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846320" y="2743200"/>
            <a:ext cx="1828800" cy="82296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ReAct
Coordinator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75120" y="3154680.0"/>
            <a:ext cx="274320" cy="0.0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949440" y="2743200"/>
            <a:ext cx="18288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Patch
Generation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78240" y="3154680.0"/>
            <a:ext cx="274320" cy="0.0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52560" y="2743200"/>
            <a:ext cx="18288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Test
Validation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881360" y="3154680.0"/>
            <a:ext cx="274320" cy="0.0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1155680" y="2743200"/>
            <a:ext cx="18288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Trace
Logger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1148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B7410E"/>
                </a:solidFill>
                <a:latin typeface="Microsoft YaHei"/>
                <a:ea typeface="Microsoft YaHei"/>
                <a:cs typeface="Microsoft YaHei"/>
              </a:rPr>
              <a:t>失败反馈 / 迭代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966960.0" y="3566160"/>
            <a:ext cx="0.0" cy="457200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760720.0" y="4023360"/>
            <a:ext cx="4206240.0" cy="0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760720.0" y="3566160"/>
            <a:ext cx="0.0" cy="457200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形式化定义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280160" cy="36576"/>
          </a:xfrm>
          <a:prstGeom prst="rect">
            <a:avLst/>
          </a:prstGeom>
          <a:solidFill>
            <a:srgbClr val="B7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5029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88136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MACR · 硕士论文中期答辩 · 2026.06 ·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2194560" cy="68580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AFAFA"/>
                </a:solidFill>
                <a:latin typeface="Microsoft YaHei"/>
                <a:ea typeface="Microsoft YaHei"/>
                <a:cs typeface="Microsoft YaHei"/>
              </a:rPr>
              <a:t>ReAct 动作选择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554480"/>
            <a:ext cx="850392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a_t = argmaxₐ P(a | s_t, h_{t-1})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23160"/>
            <a:ext cx="2194560" cy="68580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AFAFA"/>
                </a:solidFill>
                <a:latin typeface="Microsoft YaHei"/>
                <a:ea typeface="Microsoft YaHei"/>
                <a:cs typeface="Microsoft YaHei"/>
              </a:rPr>
              <a:t>Patch 生成目标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423160"/>
            <a:ext cx="850392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p* = argmaxₚ∈𝒫  P(pass(T) | p, c, q)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91840"/>
            <a:ext cx="2194560" cy="68580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AFAFA"/>
                </a:solidFill>
                <a:latin typeface="Microsoft YaHei"/>
                <a:ea typeface="Microsoft YaHei"/>
                <a:cs typeface="Microsoft YaHei"/>
              </a:rPr>
              <a:t>Knowledge Graph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3291840"/>
            <a:ext cx="850392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G = (V, E),  V = Func ∪ Class ∪ Var,  E = Call ∪ Ref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60520"/>
            <a:ext cx="2194560" cy="68580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AFAFA"/>
                </a:solidFill>
                <a:latin typeface="Microsoft YaHei"/>
                <a:ea typeface="Microsoft YaHei"/>
                <a:cs typeface="Microsoft YaHei"/>
              </a:rPr>
              <a:t>KG 查询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4160520"/>
            <a:ext cx="850392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R(q) = { e ∈ V | relevance(e, q) ≥ θ 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2194560" cy="68580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AFAFA"/>
                </a:solidFill>
                <a:latin typeface="Microsoft YaHei"/>
                <a:ea typeface="Microsoft YaHei"/>
                <a:cs typeface="Microsoft YaHei"/>
              </a:rPr>
              <a:t>Sub-Agent 输出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5029200"/>
            <a:ext cx="850392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s_i = SubAgent(config_i, ctx, instr)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ReAct 决策循环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280160" cy="36576"/>
          </a:xfrm>
          <a:prstGeom prst="rect">
            <a:avLst/>
          </a:prstGeom>
          <a:solidFill>
            <a:srgbClr val="B7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5029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88136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MACR · 硕士论文中期答辩 · 2026.06 ·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280160"/>
            <a:ext cx="18288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Observation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560320"/>
            <a:ext cx="1828800" cy="64008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Thought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480560"/>
            <a:ext cx="18288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4480560"/>
            <a:ext cx="18288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Tool / Patch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560320"/>
            <a:ext cx="18288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Feedback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36237.363443512" y="2196863.3204320613"/>
            <a:ext cx="117845.27311297692" cy="86833.35913587734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675635.157399927" y="3812524.576349618"/>
            <a:ext cx="10649.685200145468" cy="55910.84730076417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760720.0" y="4800600.0"/>
            <a:ext cx="731520.0" cy="0.0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66675.157399927" y="3812524.576349618"/>
            <a:ext cx="10649.685200145468" cy="55910.84730076417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198877.363443512" y="2196863.3204320613"/>
            <a:ext cx="117845.27311297692" cy="86833.35913587734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ReAct Coordinator 与工具链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280160" cy="36576"/>
          </a:xfrm>
          <a:prstGeom prst="rect">
            <a:avLst/>
          </a:prstGeom>
          <a:solidFill>
            <a:srgbClr val="B7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5029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88136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MACR · 硕士论文中期答辩 · 2026.06 ·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动作选择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LLM 输出 ReActAction：tool_name + tool_input + reasoning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支持直接生成 patch 与多步测试-迭代</a:t>
            </a:r>
          </a:p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测试反馈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run_tests 返回 pytest 详细输出（stdout/stderr）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失败信息驱动下一轮动作选择</a:t>
            </a:r>
          </a:p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执行边界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max_steps = 5，避免无限循环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测试通过可提前终止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Knowledge Graph 构建流程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280160" cy="36576"/>
          </a:xfrm>
          <a:prstGeom prst="rect">
            <a:avLst/>
          </a:prstGeom>
          <a:solidFill>
            <a:srgbClr val="B7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5029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88136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MACR · 硕士论文中期答辩 · 2026.06 ·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2194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Python
源文件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34640" y="2400300.0"/>
            <a:ext cx="274320" cy="0.0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108960" y="2011680"/>
            <a:ext cx="2194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AST
解析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03520" y="2400300.0"/>
            <a:ext cx="274320" cy="0.0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577840" y="2011680"/>
            <a:ext cx="2194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实体抽取
函数 / 类 / 变量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0" y="2400300.0"/>
            <a:ext cx="274320" cy="0.0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046720" y="2011680"/>
            <a:ext cx="2194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关系抽取
调用 / 引用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241280" y="2400300.0"/>
            <a:ext cx="274320" cy="0.0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515600" y="2011680"/>
            <a:ext cx="2194560" cy="77724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图构建
G = (V, 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3657600"/>
            <a:ext cx="45720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query_kg(q) → 相关实体子集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612880.0" y="2788920"/>
            <a:ext cx="0.0" cy="868680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0" y="32461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B7410E"/>
                </a:solidFill>
                <a:latin typeface="Microsoft YaHei"/>
                <a:ea typeface="Microsoft YaHei"/>
                <a:cs typeface="Microsoft YaHei"/>
              </a:rPr>
              <a:t>Coordinator 查询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Knowledge Graph 增强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280160" cy="36576"/>
          </a:xfrm>
          <a:prstGeom prst="rect">
            <a:avLst/>
          </a:prstGeom>
          <a:solidFill>
            <a:srgbClr val="B7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5029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88136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MACR · 硕士论文中期答辩 · 2026.06 ·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构建方式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解析 bug 目录全部 .py 文件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抽取函数、类、变量及调用/引用关系</a:t>
            </a:r>
          </a:p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查询工具 query_kg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Coordinator 主动查询相关函数与依赖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将图结构信息注入 LLM 上下文</a:t>
            </a:r>
          </a:p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实验效果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MACR+KG 达到 95% plausible、100% generated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显著优于纯 MACR（80%）与 Baseline（87.5%）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Sub-Agent 调用机制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280160" cy="36576"/>
          </a:xfrm>
          <a:prstGeom prst="rect">
            <a:avLst/>
          </a:prstGeom>
          <a:solidFill>
            <a:srgbClr val="B7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5029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88136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MACR · 硕士论文中期答辩 · 2026.06 ·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645920"/>
            <a:ext cx="3931920" cy="73152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Coordinator
判断是否调用 Sub-Agent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9260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加载配置
Markdown + YAML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103120.0" y="2377440"/>
            <a:ext cx="3977640.0" cy="548640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3383280.0"/>
            <a:ext cx="365760" cy="0.0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57600" y="29260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实例化
隔离上下文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35040" y="3383280.0"/>
            <a:ext cx="365760" cy="0.0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0800" y="29260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执行
mini ReAct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78240" y="3383280.0"/>
            <a:ext cx="365760" cy="0.0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0" y="29260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返回
结构化摘要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6080760" y="3840480"/>
            <a:ext cx="4251960.0" cy="731520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114800" y="4572000"/>
            <a:ext cx="3931920" cy="73152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587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Coordinator 融合摘要
继续主循环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Level-2 Sub-Agent 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280160" cy="36576"/>
          </a:xfrm>
          <a:prstGeom prst="rect">
            <a:avLst/>
          </a:prstGeom>
          <a:solidFill>
            <a:srgbClr val="B7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5029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88136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MACR · 硕士论文中期答辩 · 2026.06 ·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配置驱动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Markdown + YAML frontmatter 定义 agent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支持独立 model、tools、max_steps 配置</a:t>
            </a:r>
          </a:p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内置角色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localize、generate_patch、validate_patch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explore、review、security_audit、planner</a:t>
            </a:r>
          </a:p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当前问题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explore 调用过于频繁，token 开销大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与 KG 组合未产生协同增益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Trace 与实验设计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280160" cy="36576"/>
          </a:xfrm>
          <a:prstGeom prst="rect">
            <a:avLst/>
          </a:prstGeom>
          <a:solidFill>
            <a:srgbClr val="B7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5029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88136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MACR · 硕士论文中期答辩 · 2026.06 ·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Trace 记录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run_start/end、react_step、llm_request/response、subagent_spawn</a:t>
            </a:r>
          </a:p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实验脚本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run_ablation.py：5 配置消融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analyze_traces.py：成功率、token、调用统计</a:t>
            </a:r>
          </a:p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实验设置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数据集：QuixBugs Python（40 bugs）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模型：SiliconFlow DeepSeek-V4-Flash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指标：Plausible / Generated / Avg Steps / Tokens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实验结果汇总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280160" cy="36576"/>
          </a:xfrm>
          <a:prstGeom prst="rect">
            <a:avLst/>
          </a:prstGeom>
          <a:solidFill>
            <a:srgbClr val="B7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5029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88136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MACR · 硕士论文中期答辩 · 2026.06 · 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50876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AFA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AFA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Plausible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AFA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Generated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AFA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Avg Steps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AFA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Tokens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35/40 (87.5%)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37/40 (92.5%)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176,408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MACR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32/40 (80.0%)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34/40 (85.0%)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171,464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MACR + Sub-Agent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36/40 (90.0%)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38/40 (95.0%)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312,405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MACR + KG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38/40 (95.0%)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40/40 (100.0%)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196,233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MACR + Sub-Agent + 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36/40 (90.0%)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39/40 (97.5%)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285,216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1051560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实验结果可视化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280160" cy="36576"/>
          </a:xfrm>
          <a:prstGeom prst="rect">
            <a:avLst/>
          </a:prstGeom>
          <a:solidFill>
            <a:srgbClr val="B7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5029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88136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MACR · 硕士论文中期答辩 · 2026.06 · 19</a:t>
            </a:r>
          </a:p>
        </p:txBody>
      </p:sp>
      <p:pic>
        <p:nvPicPr>
          <p:cNvPr id="9" name="Picture 8" descr="chart_success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554480"/>
            <a:ext cx="102412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关键发现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280160" cy="36576"/>
          </a:xfrm>
          <a:prstGeom prst="rect">
            <a:avLst/>
          </a:prstGeom>
          <a:solidFill>
            <a:srgbClr val="B7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5029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88136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MACR · 硕士论文中期答辩 · 2026.06 ·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Knowledge Graph 提升最明显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MACR+KG：38/40 plausible，40/40 generated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比 Baseline 多 3 个 plausible，且全部生成 patch</a:t>
            </a:r>
          </a:p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Sub-Agent 成本偏高、收益有限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token 消耗 312k，约为 MACR+KG 的 1.6 倍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plausible 率 90%，未超过 KG 单独使用</a:t>
            </a:r>
          </a:p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纯 MACR 低于 Baseline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说明 ReAct loop 与 system prompt 仍有优化空间</a:t>
            </a:r>
          </a:p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硬 bug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max_sublist_sum：KG 增强后仍失败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find_first_in_sorted：MACR/Sub-Agent 无法生成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reverse_linked_list / shortest_path_lengths / to_base 反复失败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463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AFAF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AFAFA"/>
                </a:solidFill>
                <a:latin typeface="Microsoft YaHei"/>
                <a:ea typeface="Microsoft YaHei"/>
                <a:cs typeface="Microsoft YaHei"/>
              </a:rPr>
              <a:t>存在的问题与困惑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72000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技术难点与困惑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280160" cy="36576"/>
          </a:xfrm>
          <a:prstGeom prst="rect">
            <a:avLst/>
          </a:prstGeom>
          <a:solidFill>
            <a:srgbClr val="B7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5029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88136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MACR · 硕士论文中期答辩 · 2026.06 ·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Sub-Agent 触发策略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何时调用 explore / generate_patch 尚不明确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频繁调用导致 token 成本显著上升</a:t>
            </a:r>
          </a:p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Knowledge Graph 粒度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部分硬 bug 在 KG 增强后仍失败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图信息是否过粗或存在误导？</a:t>
            </a:r>
          </a:p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ReAct 稳定性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偶发 JSON 解析失败、测试超时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prompt 与容错机制需加强</a:t>
            </a:r>
          </a:p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数据集规模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仅验证 QuixBugs，缺乏 Defects4J 等真实大型项目验证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463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AFAF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AFAFA"/>
                </a:solidFill>
                <a:latin typeface="Microsoft YaHei"/>
                <a:ea typeface="Microsoft YaHei"/>
                <a:cs typeface="Microsoft YaHei"/>
              </a:rPr>
              <a:t>后续研究计划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72000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后续时间表与拟解决方案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280160" cy="36576"/>
          </a:xfrm>
          <a:prstGeom prst="rect">
            <a:avLst/>
          </a:prstGeom>
          <a:solidFill>
            <a:srgbClr val="B7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5029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88136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MACR · 硕士论文中期答辩 · 2026.06 ·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2026.06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失败 case trace 分析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prompt 与 action schema 优化</a:t>
            </a:r>
          </a:p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2026.07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重设计 Sub-Agent 触发条件（仅在失败/定位时调用）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引入代价模型避免无效探索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针对性消融实验</a:t>
            </a:r>
          </a:p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2026.08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Defects4J 扩展实验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成本-效益分析与对比实验</a:t>
            </a:r>
          </a:p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2026.09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论文撰写、导师审阅与修改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准备答辩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预期产出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280160" cy="36576"/>
          </a:xfrm>
          <a:prstGeom prst="rect">
            <a:avLst/>
          </a:prstGeom>
          <a:solidFill>
            <a:srgbClr val="B7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5029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88136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MACR · 硕士论文中期答辩 · 2026.06 ·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学术论文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一篇关于 MACR 的硕士学位论文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拟投稿 1 篇软件工程领域会议/期刊论文</a:t>
            </a:r>
          </a:p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系统贡献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开源 MACR 框架与实验复现脚本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完整的 trace 数据集与分析工具</a:t>
            </a:r>
          </a:p>
          <a:p>
            <a:pPr>
              <a:spcBef>
                <a:spcPts val="800"/>
              </a:spcBef>
              <a:spcAft>
                <a:spcPts val="500"/>
              </a:spcAft>
            </a:pPr>
            <a:r>
              <a:rPr sz="2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■ 核心结论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验证 KG 在 LLM-driven APR 中的有效性</a:t>
            </a:r>
          </a:p>
          <a:p>
            <a:pPr lvl="1">
              <a:spcAft>
                <a:spcPts val="300"/>
              </a:spcAft>
            </a:pPr>
            <a:r>
              <a:rPr sz="19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— 明确 Sub-Agent 的适用场景与优化方向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463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AFAF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AFAFA"/>
                </a:solidFill>
                <a:latin typeface="Microsoft YaHei"/>
                <a:ea typeface="Microsoft YaHei"/>
                <a:cs typeface="Microsoft YaHei"/>
              </a:rPr>
              <a:t>总结与致谢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72000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280160" cy="36576"/>
          </a:xfrm>
          <a:prstGeom prst="rect">
            <a:avLst/>
          </a:prstGeom>
          <a:solidFill>
            <a:srgbClr val="B7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5029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88136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MACR · 硕士论文中期答辩 · 2026.06 ·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■ 已完成 MACR 框架设计与实现，并通过 QuixBugs 消融实验验证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■ Knowledge Graph 是提升修复成功率最有效的模块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■ Sub-Agent 当前成本高、收益有限，需重新设计触发策略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■ 后续将聚焦 hard case 分析、Sub-Agent 优化与 Defects4J 扩展实验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■ 计划 2026 年 9 月完成论文撰写与答辩准备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致谢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280160" cy="36576"/>
          </a:xfrm>
          <a:prstGeom prst="rect">
            <a:avLst/>
          </a:prstGeom>
          <a:solidFill>
            <a:srgbClr val="B7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5029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88136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MACR · 硕士论文中期答辩 · 2026.06 ·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■ 感谢导师的悉心指导与建议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■ 感谢课题组同学的帮助与讨论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212121"/>
                </a:solidFill>
                <a:latin typeface="Microsoft YaHei"/>
                <a:ea typeface="Microsoft YaHei"/>
                <a:cs typeface="Microsoft YaHei"/>
              </a:rPr>
              <a:t>■ 恳请各位老师批评指正！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